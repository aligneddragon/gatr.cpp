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7302500" cy="9586900"/>
  <p:embeddedFontLst>
    <p:embeddedFont>
      <p:font typeface="Arial Narrow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ArialNarrow-bold.fntdata"/><Relationship Id="rId23" Type="http://schemas.openxmlformats.org/officeDocument/2006/relationships/font" Target="fonts/ArialNarrow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alNarrow-boldItalic.fntdata"/><Relationship Id="rId25" Type="http://schemas.openxmlformats.org/officeDocument/2006/relationships/font" Target="fonts/ArialNarrow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14800" y="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e31bfe5e56_1_3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" name="Google Shape;36;g3e31bfe5e56_1_30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e31bfe5e56_1_30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e39d71809d_1_0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g3e39d71809d_1_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e39d71809d_1_5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e39d71809d_1_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e31bfe5e56_1_3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e31bfe5e56_1_36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e31bfe5e56_1_36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31bfe5e56_1_4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31bfe5e56_1_4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e31bfe5e56_1_42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3207c3a03_0_45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Layer 1: Eliminate Redundant Work</a:t>
            </a:r>
            <a:endParaRPr/>
          </a:p>
        </p:txBody>
      </p:sp>
      <p:sp>
        <p:nvSpPr>
          <p:cNvPr id="69" name="Google Shape;69;g3e3207c3a03_0_4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890a17b74_0_4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890a17b74_0_40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a890a17b74_0_40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890a17b74_0_3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Layer 1: Eliminate Redundant Work</a:t>
            </a:r>
            <a:endParaRPr/>
          </a:p>
        </p:txBody>
      </p:sp>
      <p:sp>
        <p:nvSpPr>
          <p:cNvPr id="82" name="Google Shape;82;g3a890a17b74_0_3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890a17b74_0_1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890a17b74_0_1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a890a17b74_0_13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3207c3a03_0_61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e3207c3a03_0_6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3207c3a03_0_74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e3207c3a03_0_7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3207c3a03_0_8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e3207c3a03_0_8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31bfe5e56_1_4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31bfe5e56_1_48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e31bfe5e56_1_48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3207c3a03_0_1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3207c3a03_0_1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e3207c3a03_0_13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3207c3a03_0_9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3207c3a03_0_90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e3207c3a03_0_90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685800" y="1708012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85800" y="3886200"/>
            <a:ext cx="7677492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SzPts val="1200"/>
              <a:buNone/>
              <a:defRPr b="0" sz="20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8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64052" y="381000"/>
            <a:ext cx="8405982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75773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algn="l">
              <a:spcBef>
                <a:spcPts val="1200"/>
              </a:spcBef>
              <a:spcAft>
                <a:spcPts val="0"/>
              </a:spcAft>
              <a:buSzPts val="120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5433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8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2004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titleOnly">
  <p:cSld name="TITLE_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57762" y="381000"/>
            <a:ext cx="8329038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88158" y="371182"/>
            <a:ext cx="838891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A81C5B"/>
              </a:buClr>
              <a:buSzPts val="1200"/>
              <a:buFont typeface="Noto Sans Symbols"/>
              <a:buChar char="⬛"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433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004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▪"/>
              <a:defRPr b="0" i="1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ctrTitle"/>
          </p:nvPr>
        </p:nvSpPr>
        <p:spPr>
          <a:xfrm>
            <a:off x="685800" y="1708012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</a:t>
            </a:r>
            <a:r>
              <a:rPr lang="en-US"/>
              <a:t>dvanced Systems Lab</a:t>
            </a:r>
            <a:r>
              <a:rPr lang="en-US"/>
              <a:t> - 2nd Meeting</a:t>
            </a:r>
            <a:endParaRPr b="0" sz="20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333333"/>
                </a:solidFill>
                <a:highlight>
                  <a:srgbClr val="FFFFFF"/>
                </a:highlight>
              </a:rPr>
              <a:t>Anastasija Tortevska, Glenn Schönbächler, </a:t>
            </a:r>
            <a:endParaRPr b="0" sz="20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333333"/>
                </a:solidFill>
                <a:highlight>
                  <a:srgbClr val="FFFFFF"/>
                </a:highlight>
              </a:rPr>
              <a:t>Kristijan Zafirovski, Mukhammadali Sayfiddinov</a:t>
            </a:r>
            <a:endParaRPr b="0" sz="20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pic>
        <p:nvPicPr>
          <p:cNvPr descr="T:\work\ETH corporate design\eth_logo_black.png" id="26" name="Google Shape;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065" y="5537277"/>
            <a:ext cx="2209800" cy="558723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6"/>
          <p:cNvSpPr txBox="1"/>
          <p:nvPr/>
        </p:nvSpPr>
        <p:spPr>
          <a:xfrm>
            <a:off x="0" y="7112000"/>
            <a:ext cx="705173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TexPoint fonts used in EMF.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 the TexPoint manual before you delete this box.: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AAAAA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64052" y="381000"/>
            <a:ext cx="8405982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General Remarks</a:t>
            </a:r>
            <a:endParaRPr/>
          </a:p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75773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900"/>
              <a:buChar char="■"/>
            </a:pPr>
            <a:r>
              <a:rPr lang="en-US" sz="2200"/>
              <a:t>Work distribution unchanged from previous week</a:t>
            </a:r>
            <a:endParaRPr sz="22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2200"/>
              <a:t>We aimed to optimize everything up to SIMD vectorization for the respective functions</a:t>
            </a:r>
            <a:endParaRPr sz="22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2200"/>
              <a:t>We split into v0 to v3:</a:t>
            </a:r>
            <a:endParaRPr sz="22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2200"/>
              <a:t>v0: unoptimized dense baseline</a:t>
            </a:r>
            <a:endParaRPr sz="22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2200"/>
              <a:t>v1: math optimization  </a:t>
            </a:r>
            <a:endParaRPr sz="2200"/>
          </a:p>
          <a:p>
            <a:pPr indent="-3492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2200"/>
              <a:t>exploit sparsity </a:t>
            </a:r>
            <a:endParaRPr sz="22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2200"/>
              <a:t>v2: pre-SIMD rewrite  </a:t>
            </a:r>
            <a:endParaRPr sz="2200"/>
          </a:p>
          <a:p>
            <a:pPr indent="-3492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2200"/>
              <a:t>eliminate redundant work and memory traffic</a:t>
            </a:r>
            <a:endParaRPr sz="22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2200"/>
              <a:t>v3: explicit SIMD vectorization (in progress)</a:t>
            </a:r>
            <a:endParaRPr sz="22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ctrTitle"/>
          </p:nvPr>
        </p:nvSpPr>
        <p:spPr>
          <a:xfrm>
            <a:off x="685800" y="1708012"/>
            <a:ext cx="7772400" cy="1470000"/>
          </a:xfrm>
          <a:prstGeom prst="rect">
            <a:avLst/>
          </a:prstGeom>
        </p:spPr>
        <p:txBody>
          <a:bodyPr anchorCtr="0" anchor="t" bIns="4570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Anastasija Tortevska</a:t>
            </a:r>
            <a:endParaRPr/>
          </a:p>
        </p:txBody>
      </p:sp>
      <p:sp>
        <p:nvSpPr>
          <p:cNvPr id="40" name="Google Shape;40;p8"/>
          <p:cNvSpPr txBox="1"/>
          <p:nvPr>
            <p:ph idx="1" type="subTitle"/>
          </p:nvPr>
        </p:nvSpPr>
        <p:spPr>
          <a:xfrm>
            <a:off x="685800" y="3886200"/>
            <a:ext cx="7677600" cy="7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/>
              <a:t>equi_geometric_attention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364052" y="381000"/>
            <a:ext cx="8406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v1 — Math optimization </a:t>
            </a:r>
            <a:endParaRPr/>
          </a:p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375773" y="1362075"/>
            <a:ext cx="7896300" cy="49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2200"/>
              <a:t>DAA attention feature map is only 5-dimensional and has a closed-form expression</a:t>
            </a:r>
            <a:endParaRPr sz="22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2200"/>
              <a:t>Skip the generic basis-built einsum; emit the 5 outputs directly from the 4 trivector coordinates</a:t>
            </a:r>
            <a:endParaRPr sz="22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2200"/>
              <a:t>Replace tensor setup + contraction with a handful of scalar multiplies/adds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Query side becomes [sum012, x3^2, x0x3, x1x3, x2x3]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Key side becomes [-x3^2, -sum012, 2x0x3, 2x1x3, 2x2x3]</a:t>
            </a:r>
            <a:endParaRPr sz="22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type="title"/>
          </p:nvPr>
        </p:nvSpPr>
        <p:spPr>
          <a:xfrm>
            <a:off x="364052" y="381000"/>
            <a:ext cx="8406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v2 — Structural Rewrite</a:t>
            </a:r>
            <a:endParaRPr/>
          </a:p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75773" y="1362075"/>
            <a:ext cx="7896300" cy="49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2200"/>
              <a:t>Supported attention kinds are few and fixed, so specialize the path instead of running a generic per-kind assembly pipeline</a:t>
            </a:r>
            <a:endParaRPr sz="22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2200"/>
              <a:t>Skip repeated tensor bookkeeping and generic dispatch; route directly to the needed IPA / DAA feature builders</a:t>
            </a:r>
            <a:endParaRPr sz="22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2200"/>
              <a:t>Fuse query/key feature construction into one dedicated multivector fast path with fewer intermediate tensors</a:t>
            </a:r>
            <a:endParaRPr sz="22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2200"/>
              <a:t>Keep the closed-form DAA computation from ver_1, but assemble the final attention features in a tighter pre-SIMD kernel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type="ctrTitle"/>
          </p:nvPr>
        </p:nvSpPr>
        <p:spPr>
          <a:xfrm>
            <a:off x="685800" y="1708012"/>
            <a:ext cx="7772400" cy="1470000"/>
          </a:xfrm>
          <a:prstGeom prst="rect">
            <a:avLst/>
          </a:prstGeom>
        </p:spPr>
        <p:txBody>
          <a:bodyPr anchorCtr="0" anchor="t" bIns="4570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Glenn Schönbächler</a:t>
            </a:r>
            <a:endParaRPr/>
          </a:p>
        </p:txBody>
      </p:sp>
      <p:sp>
        <p:nvSpPr>
          <p:cNvPr id="59" name="Google Shape;59;p11"/>
          <p:cNvSpPr txBox="1"/>
          <p:nvPr>
            <p:ph idx="1" type="subTitle"/>
          </p:nvPr>
        </p:nvSpPr>
        <p:spPr>
          <a:xfrm>
            <a:off x="685800" y="3886200"/>
            <a:ext cx="7677600" cy="7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/>
              <a:t>Description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ctrTitle"/>
          </p:nvPr>
        </p:nvSpPr>
        <p:spPr>
          <a:xfrm>
            <a:off x="685800" y="1708012"/>
            <a:ext cx="7772400" cy="1470000"/>
          </a:xfrm>
          <a:prstGeom prst="rect">
            <a:avLst/>
          </a:prstGeom>
        </p:spPr>
        <p:txBody>
          <a:bodyPr anchorCtr="0" anchor="t" bIns="4570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Kristijan Zafirovski</a:t>
            </a:r>
            <a:endParaRPr/>
          </a:p>
        </p:txBody>
      </p:sp>
      <p:sp>
        <p:nvSpPr>
          <p:cNvPr id="66" name="Google Shape;66;p12"/>
          <p:cNvSpPr txBox="1"/>
          <p:nvPr>
            <p:ph idx="1" type="subTitle"/>
          </p:nvPr>
        </p:nvSpPr>
        <p:spPr>
          <a:xfrm>
            <a:off x="685800" y="3886200"/>
            <a:ext cx="7677600" cy="7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/>
              <a:t>equi_linear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364052" y="381000"/>
            <a:ext cx="8406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v0 → v1: Exploiting Sparsity </a:t>
            </a:r>
            <a:endParaRPr/>
          </a:p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375773" y="1362075"/>
            <a:ext cx="7896300" cy="49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2200"/>
              <a:t>The problem with v0</a:t>
            </a:r>
            <a:endParaRPr sz="22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2200"/>
              <a:t>Does python einsum, builds a full 16×16 weight matrix M per (o, i) pair, then runs a dense matrix-vector multiply</a:t>
            </a:r>
            <a:endParaRPr sz="22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2200"/>
              <a:t>256 multiply-accumulates per (b, o, i) iteration, most multiplying by zero</a:t>
            </a:r>
            <a:endParaRPr sz="22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2200"/>
              <a:t>The fix in v1</a:t>
            </a:r>
            <a:endParaRPr sz="22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2200"/>
              <a:t>The equivariant basis has only 24 nonzero couplings out of 256 possible</a:t>
            </a:r>
            <a:endParaRPr sz="22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2200"/>
              <a:t>Skip the matrix entirely, hand-unroll just the 24 nonzero terms directly</a:t>
            </a:r>
            <a:endParaRPr sz="22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2200"/>
              <a:t>16 diagonal (grade-preserving) + 8 off-diagonal (e₀-related)</a:t>
            </a:r>
            <a:endParaRPr sz="2200"/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364052" y="381000"/>
            <a:ext cx="8406000" cy="762000"/>
          </a:xfrm>
          <a:prstGeom prst="rect">
            <a:avLst/>
          </a:prstGeom>
        </p:spPr>
        <p:txBody>
          <a:bodyPr anchorCtr="0" anchor="t" bIns="457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v0 → v1: Exploiting Sparsity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4" title="Screenshot 2026-05-21 at 07.13.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4763" y="1363175"/>
            <a:ext cx="6964577" cy="5168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364052" y="381000"/>
            <a:ext cx="8406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v2.1 — Eliminate Redundant Work</a:t>
            </a:r>
            <a:endParaRPr/>
          </a:p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375773" y="1362075"/>
            <a:ext cx="7896300" cy="49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2200"/>
              <a:t>Hoist Normalization</a:t>
            </a:r>
            <a:endParaRPr sz="22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w[k] × inv_norm[k] depends only on (o, i), never on batch item b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v1 recomputes it inside all 3 loops: B × O × I × 9 multiplications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v2 precomputes once before the batch loop: O × I × 9 multiplications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Saving scales exactly with batch size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1900"/>
              <a:t>Fold Bias In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compute full output, then add bias in a separate post-kernel pass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That pass costs B × O read-modify-writes after the kernel finishes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v2 initialises acc[0] = bias[o] before the i loop — bias is baked in for free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1900"/>
              <a:t>Skip Zero-Init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torch::zeros writes the entire output buffer to zero before the kernel starts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Every output element is fully overwritten by the acc[] store anyway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torch::empty skips the pre-pass entirely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364052" y="381000"/>
            <a:ext cx="8406000" cy="762000"/>
          </a:xfrm>
          <a:prstGeom prst="rect">
            <a:avLst/>
          </a:prstGeom>
        </p:spPr>
        <p:txBody>
          <a:bodyPr anchorCtr="0" anchor="t" bIns="457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v2.1 — Eliminate Redundant 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6" title="Screenshot 2026-05-21 at 06.52.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3375" y="1333850"/>
            <a:ext cx="7147351" cy="5001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64052" y="381000"/>
            <a:ext cx="8406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v2.2 — </a:t>
            </a:r>
            <a:r>
              <a:rPr lang="en-US"/>
              <a:t>Reduce Memory Traffic</a:t>
            </a:r>
            <a:endParaRPr/>
          </a:p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375773" y="1362075"/>
            <a:ext cx="7896300" cy="49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2200"/>
              <a:t>Register-Resident Accumulator</a:t>
            </a:r>
            <a:endParaRPr sz="22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v1: every += is a read-modify-write to memory, 64 iters × 24 couplings = 1,536 writes to the same 16 addresses per (b, o)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v2: T acc[16] lives in CPU registers, then  accumulate across all input channels, store once. 16 writes total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96× fewer memory writes per (b, o) pair</a:t>
            </a:r>
            <a:endParaRPr sz="2000"/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2200"/>
              <a:t>Thread-Local Weight Buffer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Naïve: allocate a fresh std::vector on every call, model calls equi_linear dozens of times per forward pass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static thread_local vector: capacity persists across calls, zero heap allocation at steady state, one buffer per thread so no mutex needed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64052" y="381000"/>
            <a:ext cx="8406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v2.2 — </a:t>
            </a:r>
            <a:r>
              <a:rPr lang="en-US"/>
              <a:t>Output in registers, written once</a:t>
            </a:r>
            <a:endParaRPr/>
          </a:p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375773" y="1362075"/>
            <a:ext cx="7896300" cy="49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t/>
            </a:r>
            <a:endParaRPr sz="22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105" name="Google Shape;105;p18" title="Screenshot 2026-05-21 at 06.58.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064" y="1298161"/>
            <a:ext cx="8015974" cy="5100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64052" y="381000"/>
            <a:ext cx="8406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v2.3 — </a:t>
            </a:r>
            <a:r>
              <a:rPr lang="en-US"/>
              <a:t>Improve Instruction Quality</a:t>
            </a:r>
            <a:endParaRPr/>
          </a:p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375773" y="1362075"/>
            <a:ext cx="7896300" cy="49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2200"/>
              <a:t>__restrict__ Raw Pointers</a:t>
            </a:r>
            <a:endParaRPr sz="2200"/>
          </a:p>
          <a:p>
            <a:pPr indent="-35433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 sz="2200"/>
              <a:t>TensorAccessor hides the pointer in a struct, compiler assumes aliasing, re-fetches values from memory after every write</a:t>
            </a:r>
            <a:endParaRPr sz="2200"/>
          </a:p>
          <a:p>
            <a:pPr indent="-35433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 sz="2200"/>
              <a:t>data_ptr&lt;T&gt;() + __restrict__ proves xp, op, wn never overlap, reload barriers disappear, values stay in registers</a:t>
            </a:r>
            <a:endParaRPr sz="22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2200"/>
              <a:t>Grade-Block Loops</a:t>
            </a:r>
            <a:endParaRPr sz="2200"/>
          </a:p>
          <a:p>
            <a:pPr indent="-35433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 sz="2200"/>
              <a:t>Diagonal couplings regrouped into 5 short fixed-trip loops by grade shaped to hint the compiler toward autovectorization</a:t>
            </a:r>
            <a:endParaRPr sz="2200"/>
          </a:p>
          <a:p>
            <a:pPr indent="-35433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 sz="2200"/>
              <a:t>Not yet verified need to inspect assembly and benchmark v2 vs v1</a:t>
            </a:r>
            <a:endParaRPr sz="2200"/>
          </a:p>
          <a:p>
            <a:pPr indent="-35433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 sz="2200"/>
              <a:t>v3: replace with explicit AVX2 intrinsics to guarantee SIMD</a:t>
            </a:r>
            <a:endParaRPr sz="2200"/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ctrTitle"/>
          </p:nvPr>
        </p:nvSpPr>
        <p:spPr>
          <a:xfrm>
            <a:off x="685800" y="1708012"/>
            <a:ext cx="7772400" cy="1470000"/>
          </a:xfrm>
          <a:prstGeom prst="rect">
            <a:avLst/>
          </a:prstGeom>
        </p:spPr>
        <p:txBody>
          <a:bodyPr anchorCtr="0" anchor="t" bIns="4570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Mukhammadali Sayfiddinov</a:t>
            </a:r>
            <a:endParaRPr/>
          </a:p>
        </p:txBody>
      </p:sp>
      <p:sp>
        <p:nvSpPr>
          <p:cNvPr id="118" name="Google Shape;118;p20"/>
          <p:cNvSpPr txBox="1"/>
          <p:nvPr>
            <p:ph idx="1" type="subTitle"/>
          </p:nvPr>
        </p:nvSpPr>
        <p:spPr>
          <a:xfrm>
            <a:off x="685800" y="3886200"/>
            <a:ext cx="7677600" cy="7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/>
              <a:t>Description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64052" y="381000"/>
            <a:ext cx="8406000" cy="762000"/>
          </a:xfrm>
          <a:prstGeom prst="rect">
            <a:avLst/>
          </a:prstGeom>
        </p:spPr>
        <p:txBody>
          <a:bodyPr anchorCtr="0" anchor="t" bIns="4570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Steps and Project Deadline planning</a:t>
            </a:r>
            <a:endParaRPr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375773" y="1362075"/>
            <a:ext cx="7896300" cy="497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Final Benchmarking runs 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Implement v3: explicit AVX2 intrinsics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Profile full model forward pass and identify remaining bottlenecks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Prepare final presentation </a:t>
            </a:r>
            <a:r>
              <a:rPr lang="en-US" sz="2200"/>
              <a:t>with timing results cost analysis and roofline plots 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64052" y="381000"/>
            <a:ext cx="8406000" cy="762000"/>
          </a:xfrm>
          <a:prstGeom prst="rect">
            <a:avLst/>
          </a:prstGeom>
        </p:spPr>
        <p:txBody>
          <a:bodyPr anchorCtr="0" anchor="t" bIns="4570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General Questions</a:t>
            </a:r>
            <a:endParaRPr/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375773" y="1362075"/>
            <a:ext cx="7896300" cy="497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■"/>
            </a:pPr>
            <a:r>
              <a:t/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TH Course">
  <a:themeElements>
    <a:clrScheme name="ETH">
      <a:dk1>
        <a:srgbClr val="000000"/>
      </a:dk1>
      <a:lt1>
        <a:srgbClr val="FFFFFF"/>
      </a:lt1>
      <a:dk2>
        <a:srgbClr val="002B5F"/>
      </a:dk2>
      <a:lt2>
        <a:srgbClr val="808080"/>
      </a:lt2>
      <a:accent1>
        <a:srgbClr val="4F0E2B"/>
      </a:accent1>
      <a:accent2>
        <a:srgbClr val="005C3C"/>
      </a:accent2>
      <a:accent3>
        <a:srgbClr val="A03232"/>
      </a:accent3>
      <a:accent4>
        <a:srgbClr val="F7F0BC"/>
      </a:accent4>
      <a:accent5>
        <a:srgbClr val="C8DEC8"/>
      </a:accent5>
      <a:accent6>
        <a:srgbClr val="D6D6F5"/>
      </a:accent6>
      <a:hlink>
        <a:srgbClr val="A71D5B"/>
      </a:hlink>
      <a:folHlink>
        <a:srgbClr val="A71D5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